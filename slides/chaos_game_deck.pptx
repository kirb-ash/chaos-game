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3ed5d53-487a-d04e-b6a0-c9ef43ec6f7d}">
          <p14:sldIdLst>
            <p14:sldId id="256"/>
          </p14:sldIdLst>
        </p14:section>
        <p14:section name="The math" id="{69cfa6cf-fd46-e2bd-bbf9-dea6795ce05b}">
          <p14:sldIdLst>
            <p14:sldId id="257"/>
            <p14:sldId id="258"/>
            <p14:sldId id="259"/>
          </p14:sldIdLst>
        </p14:section>
        <p14:section name="Results" id="{801213a7-d13b-e775-7fa8-c9ccdcfbc668}">
          <p14:sldIdLst>
            <p14:sldId id="260"/>
            <p14:sldId id="261"/>
            <p14:sldId id="262"/>
            <p14:sldId id="263"/>
          </p14:sldIdLst>
        </p14:section>
        <p14:section name="Wrap-up" id="{ea9532cc-82a9-e4f1-3220-27b15580372f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2372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2372A"/>
                </a:solidFill>
                <a:latin typeface="+mn-lt"/>
              </a:rPr>
              <a:t>Fractal dimension: measured vs theory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Box counting</c:v>
                </c:pt>
              </c:strCache>
            </c:strRef>
          </c:tx>
          <c:spPr>
            <a:solidFill>
              <a:srgbClr val="1F6F5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Triangle 1/2</c:v>
                  </c:pt>
                  <c:pt idx="1">
                    <c:v>Triangle 1/3</c:v>
                  </c:pt>
                  <c:pt idx="2">
                    <c:v>Square 1/3</c:v>
                  </c:pt>
                  <c:pt idx="3">
                    <c:v>Hexagon 1/3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1.597</c:v>
                </c:pt>
                <c:pt idx="1">
                  <c:v>1.016</c:v>
                </c:pt>
                <c:pt idx="2">
                  <c:v>1.33</c:v>
                </c:pt>
                <c:pt idx="3">
                  <c:v>1.629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Theory</c:v>
                </c:pt>
              </c:strCache>
            </c:strRef>
          </c:tx>
          <c:spPr>
            <a:solidFill>
              <a:srgbClr val="E07A2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Triangle 1/2</c:v>
                  </c:pt>
                  <c:pt idx="1">
                    <c:v>Triangle 1/3</c:v>
                  </c:pt>
                  <c:pt idx="2">
                    <c:v>Square 1/3</c:v>
                  </c:pt>
                  <c:pt idx="3">
                    <c:v>Hexagon 1/3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1.585</c:v>
                </c:pt>
                <c:pt idx="1">
                  <c:v>1</c:v>
                </c:pt>
                <c:pt idx="2">
                  <c:v>1.262</c:v>
                </c:pt>
                <c:pt idx="3">
                  <c:v>1.631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B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9525" cap="flat">
              <a:solidFill>
                <a:srgbClr val="EAF3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2B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showing the picture: this complex triangle is built by a very simple random rule. The next slides explain the rule and the linear algebra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 as a matrix: T = r times the identity. The map x -&gt; T(x - v) + v is a scaling centered at v. With r = 1/2 the new point is the midpoint of x and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GIF in the repo plays this build-up live. Open figures/chaos_game.gif in a browser if you want to show it animated.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det(T) is the area scaling factor. Eigenvalues of modulus below 1 mean the map contracts, which is why the iteration settles onto an attractor.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ratio decides whether the copies overlap, touch, or separate. That is the whole story of the square at 1/2 versus 1/3.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ratio, different rule about which vertex may follow which. The restriction changes the dynamical system, so the attractor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matrices have spectral radius below 1, so the system contracts. The singular T4 is a nice linear algebra moment: rank 1, so it maps the whole plane onto the y-axis.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Theory is exact only when the pieces don't overlap, which is why square 1/3 differs a little: box counting at finite resolution is rough on the clustered pieces.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Fallback if the live run fails: the figures/ folder has every image saved, and chaos_game.gif shows the build-up.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58521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57600"/>
            <a:ext cx="5852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Chaos Game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5760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Fractals from linear maps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MFAD Mini Project  ·  Kirby, PES University</a:t>
            </a:r>
            <a:endParaRPr lang="en-US" sz="2000" dirty="0"/>
          </a:p>
        </p:txBody>
      </p:sp>
      <p:pic>
        <p:nvPicPr>
          <p:cNvPr id="4" name="Image 0" descr="Sierpinski trian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One step of the game</a:t>
            </a:r>
            <a:endParaRPr lang="en-US" sz="3600" dirty="0"/>
          </a:p>
        </p:txBody>
      </p:sp>
      <p:pic>
        <p:nvPicPr>
          <p:cNvPr id="3" name="Image 0" descr="Diagram of one chaos game ste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937760" cy="4937760"/>
          </a:xfrm>
          <a:prstGeom prst="rect">
            <a:avLst/>
          </a:prstGeom>
        </p:spPr>
      </p:pic>
      <p:sp>
        <p:nvSpPr>
          <p:cNvPr id="4" name="Formula card"/>
          <p:cNvSpPr/>
          <p:nvPr/>
        </p:nvSpPr>
        <p:spPr>
          <a:xfrm>
            <a:off x="6035040" y="1463040"/>
            <a:ext cx="55778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035040" y="146304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x_new = T (x − v) + v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320040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Pick a vertex v of the polygon at random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Move the point toward v: T = r·I shrinks the distance to v by the ratio 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Repeat 10,000+ times and plot every point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56692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Each step is a contraction toward the chosen vertex. With r = 1/2, x_new is the midpoint.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Watch the structure emerge</a:t>
            </a:r>
            <a:endParaRPr lang="en-US" sz="3600" dirty="0"/>
          </a:p>
        </p:txBody>
      </p:sp>
      <p:pic>
        <p:nvPicPr>
          <p:cNvPr id="3" name="Image 0" descr="Triangle built from 10, 100, 1000 and 20000 poi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11064240" cy="29809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892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Same rule, more points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4406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Early points look random. By 20,000 the Sierpinski triangle is unmistakable, and nothing in the rule mentions a triangle.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Live demo: figures/chaos_game.gif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linear algebra behind it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548640" y="141732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pic>
        <p:nvPicPr>
          <p:cNvPr id="4" name="Image 0" descr="Scal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54480"/>
            <a:ext cx="1828800" cy="17922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3840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Scaling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4297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r·I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846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det T = r², so areas shrink by r² each step. Both eigenvalues equal r.</a:t>
            </a:r>
            <a:endParaRPr lang="en-US" sz="1500" dirty="0"/>
          </a:p>
        </p:txBody>
      </p:sp>
      <p:sp>
        <p:nvSpPr>
          <p:cNvPr id="8" name="Card 2"/>
          <p:cNvSpPr/>
          <p:nvPr/>
        </p:nvSpPr>
        <p:spPr>
          <a:xfrm>
            <a:off x="4297680" y="141732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pic>
        <p:nvPicPr>
          <p:cNvPr id="9" name="Image 1" descr="Scale + rot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554480"/>
            <a:ext cx="1828800" cy="17922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26280" y="3840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Scale + rotate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4526280" y="4297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r·R(θ)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4846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Eigenvalues are complex with modulus r, so every step spins by θ and shrinks.</a:t>
            </a:r>
            <a:endParaRPr lang="en-US" sz="1500" dirty="0"/>
          </a:p>
        </p:txBody>
      </p:sp>
      <p:sp>
        <p:nvSpPr>
          <p:cNvPr id="13" name="Card 3"/>
          <p:cNvSpPr/>
          <p:nvPr/>
        </p:nvSpPr>
        <p:spPr>
          <a:xfrm>
            <a:off x="8046720" y="141732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pic>
        <p:nvPicPr>
          <p:cNvPr id="14" name="Image 2" descr="Affine m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284" y="1554480"/>
            <a:ext cx="1399032" cy="21945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75320" y="3840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Affine map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8275320" y="4297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→ T x + Q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4846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 translates. Four different T's, chosen with probabilities, grow a fern.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Ratio and rotation change the picture</a:t>
            </a:r>
            <a:endParaRPr lang="en-US" sz="3600" dirty="0"/>
          </a:p>
        </p:txBody>
      </p:sp>
      <p:pic>
        <p:nvPicPr>
          <p:cNvPr id="3" name="Image 0" descr="r = 1/3 on a trian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566160" cy="34930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74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 = 1/3 on a triangle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440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Pieces no longer touch: the set breaks into separate specks (dimension 1).</a:t>
            </a:r>
            <a:endParaRPr lang="en-US" sz="1400" dirty="0"/>
          </a:p>
        </p:txBody>
      </p:sp>
      <p:pic>
        <p:nvPicPr>
          <p:cNvPr id="6" name="Image 1" descr="r = 1/2 with rotation π/1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3566160" cy="34930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97680" y="5074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 = 1/2 with rotation π/18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297680" y="5440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small twist per step turns the clean triangle into a swirl of tilted copies.</a:t>
            </a:r>
            <a:endParaRPr lang="en-US" sz="1400" dirty="0"/>
          </a:p>
        </p:txBody>
      </p:sp>
      <p:pic>
        <p:nvPicPr>
          <p:cNvPr id="9" name="Image 2" descr="Square, r = 1/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17320"/>
            <a:ext cx="3566160" cy="34930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46720" y="5074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Square, r = 1/2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8046720" y="5440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pieces overlap so much that the whole square fills in. No fractal.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Forbidding a vertex creates structure</a:t>
            </a:r>
            <a:endParaRPr lang="en-US" sz="3600" dirty="0"/>
          </a:p>
        </p:txBody>
      </p:sp>
      <p:pic>
        <p:nvPicPr>
          <p:cNvPr id="3" name="Image 0" descr="Square: no repeated verte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566160" cy="34930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74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Square: no repeated vertex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440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Banning a repeat already breaks the overlap and a fractal appears.</a:t>
            </a:r>
            <a:endParaRPr lang="en-US" sz="1400" dirty="0"/>
          </a:p>
        </p:txBody>
      </p:sp>
      <p:pic>
        <p:nvPicPr>
          <p:cNvPr id="6" name="Image 1" descr="Square: no opposite verte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3566160" cy="34930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97680" y="5074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Square: no opposite vertex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297680" y="5440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Skipping the opposite corner leaves clear gaps with copies at every scale.</a:t>
            </a:r>
            <a:endParaRPr lang="en-US" sz="1400" dirty="0"/>
          </a:p>
        </p:txBody>
      </p:sp>
      <p:pic>
        <p:nvPicPr>
          <p:cNvPr id="9" name="Image 2" descr="Pentagon, r = 2/5, no repe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17320"/>
            <a:ext cx="3566160" cy="34930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46720" y="5074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Pentagon, r = 2/5, no repeat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8046720" y="5440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Clusters ring an empty center, and each cluster is a miniature of the whole.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Barnsley fern: four matrices, one plant</a:t>
            </a:r>
            <a:endParaRPr lang="en-US" sz="3600" dirty="0"/>
          </a:p>
        </p:txBody>
      </p:sp>
      <p:pic>
        <p:nvPicPr>
          <p:cNvPr id="3" name="Image 0" descr="Barnsley fe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108960" cy="493776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554480"/>
          <a:ext cx="74066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280160"/>
                <a:gridCol w="1005840"/>
                <a:gridCol w="1737360"/>
                <a:gridCol w="26517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Probability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det(T)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|eigenvalues|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0.851, 0.851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Main frond, slightly rotated copy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−0.109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0.288, 0.378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Side leaflet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0.322, 0.322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Side leaflet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0, 0.16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Stem: singular, flattens to a line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206240" y="502920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det(T4) = 0 means the plane is crushed onto a line. That is exactly where the stem comes from.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Measured dimension matches the theory</a:t>
            </a:r>
            <a:endParaRPr lang="en-US" sz="3600" dirty="0"/>
          </a:p>
        </p:txBody>
      </p:sp>
      <p:sp>
        <p:nvSpPr>
          <p:cNvPr id="3" name="Stat card"/>
          <p:cNvSpPr/>
          <p:nvPr/>
        </p:nvSpPr>
        <p:spPr>
          <a:xfrm>
            <a:off x="548640" y="1463040"/>
            <a:ext cx="32918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4"/>
                </a:solidFill>
              </a:rPr>
              <a:t>1.585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log 3 / log 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Sierpinski triangle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Dimension = log n / log(1/r) for n copies at ratio r. We checked it by box counting the plotted points.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297680" y="1371600"/>
          <a:ext cx="7315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Takeaways</a:t>
            </a:r>
            <a:endParaRPr lang="en-US" sz="3600" dirty="0"/>
          </a:p>
        </p:txBody>
      </p:sp>
      <p:sp>
        <p:nvSpPr>
          <p:cNvPr id="3" name="Takeaway 1"/>
          <p:cNvSpPr/>
          <p:nvPr/>
        </p:nvSpPr>
        <p:spPr>
          <a:xfrm>
            <a:off x="548640" y="1554480"/>
            <a:ext cx="3566160" cy="393192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det(T)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Area scaling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Tells you how fast each map shrinks the plane. det = 0 collapses it to a line.</a:t>
            </a:r>
            <a:endParaRPr lang="en-US" sz="1600" dirty="0"/>
          </a:p>
        </p:txBody>
      </p:sp>
      <p:sp>
        <p:nvSpPr>
          <p:cNvPr id="7" name="Takeaway 2"/>
          <p:cNvSpPr/>
          <p:nvPr/>
        </p:nvSpPr>
        <p:spPr>
          <a:xfrm>
            <a:off x="4297680" y="1554480"/>
            <a:ext cx="3566160" cy="393192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18288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|λ| &lt; 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Contraction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657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Eigenvalues inside the unit circle guarantee the iteration settles on one attractor.</a:t>
            </a:r>
            <a:endParaRPr lang="en-US" sz="1600" dirty="0"/>
          </a:p>
        </p:txBody>
      </p:sp>
      <p:sp>
        <p:nvSpPr>
          <p:cNvPr id="11" name="Takeaway 3"/>
          <p:cNvSpPr/>
          <p:nvPr/>
        </p:nvSpPr>
        <p:spPr>
          <a:xfrm>
            <a:off x="8046720" y="1554480"/>
            <a:ext cx="3566160" cy="393192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18288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log n / log(1/r)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Dimension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657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Counts how the copies scale, and our measurements agree with it.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60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4"/>
                </a:solidFill>
              </a:rPr>
              <a:t>Simple matrices plus a coin flip give infinite detail, and linear algebra explains why.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Live demo</a:t>
            </a:r>
            <a:endParaRPr lang="en-US" sz="3600" dirty="0"/>
          </a:p>
        </p:txBody>
      </p:sp>
      <p:sp>
        <p:nvSpPr>
          <p:cNvPr id="3" name="Terminal"/>
          <p:cNvSpPr/>
          <p:nvPr/>
        </p:nvSpPr>
        <p:spPr>
          <a:xfrm>
            <a:off x="548640" y="1463040"/>
            <a:ext cx="640080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-r requirements.txt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main.py --show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visuals.py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main.py opens each fractal and prints the dimension and eigenvalue tables. visuals.py makes the step diagram, build-up strip and GIF.</a:t>
            </a:r>
            <a:endParaRPr lang="en-US" sz="1600" dirty="0"/>
          </a:p>
        </p:txBody>
      </p:sp>
      <p:pic>
        <p:nvPicPr>
          <p:cNvPr id="6" name="Image 0" descr="Sierpinski trian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463040"/>
            <a:ext cx="4114800" cy="40325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937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Repo: chaos_game.py · main.py · visuals.py · README.md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os Game">
  <a:themeElements>
    <a:clrScheme name="Chaos Game">
      <a:dk1>
        <a:srgbClr val="1B2B24"/>
      </a:dk1>
      <a:lt1>
        <a:srgbClr val="FFFFFF"/>
      </a:lt1>
      <a:dk2>
        <a:srgbClr val="12372A"/>
      </a:dk2>
      <a:lt2>
        <a:srgbClr val="EAF3EE"/>
      </a:lt2>
      <a:accent1>
        <a:srgbClr val="1F6F5C"/>
      </a:accent1>
      <a:accent2>
        <a:srgbClr val="E07A2F"/>
      </a:accent2>
      <a:accent3>
        <a:srgbClr val="2F7D32"/>
      </a:accent3>
      <a:accent4>
        <a:srgbClr val="8FD3B0"/>
      </a:accent4>
      <a:accent5>
        <a:srgbClr val="5C6B63"/>
      </a:accent5>
      <a:accent6>
        <a:srgbClr val="C9A227"/>
      </a:accent6>
      <a:hlink>
        <a:srgbClr val="1F6F5C"/>
      </a:hlink>
      <a:folHlink>
        <a:srgbClr val="5C6B63"/>
      </a:folHlink>
    </a:clrScheme>
    <a:fontScheme name="Chaos Gam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Chaos Game: Fractals from Linear Maps</dc:title>
  <dc:subject>PptxGenJS Presentation</dc:subject>
  <dc:creator>Kirby</dc:creator>
  <cp:lastModifiedBy>Kirby</cp:lastModifiedBy>
  <cp:revision>1</cp:revision>
  <dcterms:created xsi:type="dcterms:W3CDTF">2026-10-08T07:57:01Z</dcterms:created>
  <dcterms:modified xsi:type="dcterms:W3CDTF">2026-10-08T07:57:01Z</dcterms:modified>
</cp:coreProperties>
</file>